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Aft>
                <a:spcPts val="1560"/>
              </a:spcAft>
              <a:defRPr sz="5200" b="1">
                <a:solidFill>
                  <a:srgbClr val="212529"/>
                </a:solidFill>
                <a:latin typeface="Calibri"/>
              </a:defRPr>
            </a:pPr>
            <a:r>
              <a:t>Industry AI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719"/>
              </a:spcAft>
              <a:defRPr sz="2400" b="0">
                <a:solidFill>
                  <a:srgbClr val="006DC6"/>
                </a:solidFill>
                <a:latin typeface="Calibri"/>
              </a:defRPr>
            </a:pPr>
            <a:r>
              <a:t>AI-Powered Intelligence for the Construction Industry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474720"/>
            <a:ext cx="3017520" cy="27432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560"/>
              </a:spcAft>
              <a:defRPr sz="1400" b="0">
                <a:solidFill>
                  <a:srgbClr val="6C757D"/>
                </a:solidFill>
                <a:latin typeface="Calibri"/>
              </a:defRPr>
            </a:pPr>
            <a:r>
              <a:t>SAIT  |  Integrated Artificial Intelligence  |  Capstone Project</a:t>
            </a:r>
          </a:p>
          <a:p>
            <a:pPr algn="l">
              <a:lnSpc>
                <a:spcPts val="1040"/>
              </a:lnSpc>
              <a:spcAft>
                <a:spcPts val="320"/>
              </a:spcAft>
              <a:defRPr sz="800" b="0">
                <a:solidFill>
                  <a:srgbClr val="212529"/>
                </a:solidFill>
                <a:latin typeface="Calibri"/>
              </a:defRPr>
            </a:pPr>
          </a:p>
          <a:p>
            <a:pPr algn="ctr">
              <a:lnSpc>
                <a:spcPts val="2080"/>
              </a:lnSpc>
              <a:spcAft>
                <a:spcPts val="640"/>
              </a:spcAft>
              <a:defRPr sz="1600" b="0">
                <a:solidFill>
                  <a:srgbClr val="212529"/>
                </a:solidFill>
                <a:latin typeface="Calibri"/>
              </a:defRPr>
            </a:pPr>
            <a:r>
              <a:t>Angel Daniel Bustamante Perez    |    Jason Niu    |    Jack Si</a:t>
            </a:r>
          </a:p>
          <a:p>
            <a:pPr algn="l">
              <a:lnSpc>
                <a:spcPts val="1040"/>
              </a:lnSpc>
              <a:spcAft>
                <a:spcPts val="320"/>
              </a:spcAft>
              <a:defRPr sz="800" b="0">
                <a:solidFill>
                  <a:srgbClr val="212529"/>
                </a:solidFill>
                <a:latin typeface="Calibri"/>
              </a:defRPr>
            </a:pPr>
          </a:p>
          <a:p>
            <a:pPr algn="ctr">
              <a:lnSpc>
                <a:spcPts val="1690"/>
              </a:lnSpc>
              <a:spcAft>
                <a:spcPts val="52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Instructor: Reeta</a:t>
            </a:r>
          </a:p>
          <a:p>
            <a:pPr algn="ctr">
              <a:lnSpc>
                <a:spcPts val="1690"/>
              </a:lnSpc>
              <a:spcAft>
                <a:spcPts val="52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212529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828800" cy="36576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1828800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74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212529"/>
                </a:solidFill>
                <a:latin typeface="Calibri"/>
              </a:defRPr>
            </a:pPr>
            <a:r>
              <a:t>Problem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103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Why AI for construction?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606040"/>
            <a:ext cx="457200" cy="457200"/>
          </a:xfrm>
          <a:prstGeom prst="ellipse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606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212529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8803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Three AI-powered capabilities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38328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212529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657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How it all fits together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4160520"/>
            <a:ext cx="457200" cy="45720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160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212529"/>
                </a:solidFill>
                <a:latin typeface="Calibri"/>
              </a:defRPr>
            </a:pPr>
            <a:r>
              <a:t>AI/ML Deep Dive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4348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RAG, cost prediction, code analysis</a:t>
            </a:r>
          </a:p>
        </p:txBody>
      </p:sp>
      <p:sp>
        <p:nvSpPr>
          <p:cNvPr id="20" name="Oval 19"/>
          <p:cNvSpPr/>
          <p:nvPr/>
        </p:nvSpPr>
        <p:spPr>
          <a:xfrm>
            <a:off x="1371600" y="493776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983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937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212529"/>
                </a:solidFill>
                <a:latin typeface="Calibri"/>
              </a:defRPr>
            </a:pPr>
            <a:r>
              <a:t>Results &amp;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212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Metrics and achievements</a:t>
            </a:r>
          </a:p>
        </p:txBody>
      </p:sp>
      <p:sp>
        <p:nvSpPr>
          <p:cNvPr id="24" name="Oval 23"/>
          <p:cNvSpPr/>
          <p:nvPr/>
        </p:nvSpPr>
        <p:spPr>
          <a:xfrm>
            <a:off x="1371600" y="571500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760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212529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989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1828800"/>
            <a:ext cx="4114800" cy="41148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006DC6"/>
                </a:solidFill>
                <a:latin typeface="Calibri"/>
              </a:defRPr>
            </a:pPr>
            <a:r>
              <a:t>Speaker Assignments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2560320"/>
            <a:ext cx="36576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2633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F57C00"/>
                </a:solidFill>
                <a:latin typeface="Calibri"/>
              </a:defRPr>
            </a:pPr>
            <a:r>
              <a:t>Angel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2971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Introduction, Process, Conclusion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3566160"/>
            <a:ext cx="36576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3639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009688"/>
                </a:solidFill>
                <a:latin typeface="Calibri"/>
              </a:defRPr>
            </a:pPr>
            <a:r>
              <a:t>Jack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Industry Problem, Domain 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4572000"/>
            <a:ext cx="36576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0" y="46451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006DC6"/>
                </a:solidFill>
                <a:latin typeface="Calibri"/>
              </a:defRPr>
            </a:pPr>
            <a:r>
              <a:t>Jason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983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Architecture, AI/ML, Demo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6400800"/>
            <a:ext cx="1645920" cy="320040"/>
          </a:xfrm>
          <a:prstGeom prst="roundRect">
            <a:avLst/>
          </a:prstGeom>
          <a:solidFill>
            <a:srgbClr val="E9ECEF"/>
          </a:solidFill>
          <a:ln w="190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6419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6C757D"/>
                </a:solidFill>
                <a:latin typeface="Calibri"/>
              </a:defRPr>
            </a:pPr>
            <a:r>
              <a:t>Speaker: Angel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212529"/>
                </a:solidFill>
                <a:latin typeface="Calibri"/>
              </a:defRPr>
            </a:pPr>
            <a:r>
              <a:t>The Problem: Construction Meets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828800" cy="36576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783080"/>
            <a:ext cx="274320" cy="27432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556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212529"/>
                </a:solidFill>
                <a:latin typeface="Calibri"/>
              </a:defRPr>
            </a:pPr>
            <a:r>
              <a:t>Scattered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Safety codes, regulations, and standards spread across hundreds of PDF documents — hard to search, easy to miss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246120"/>
            <a:ext cx="274320" cy="27432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186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00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212529"/>
                </a:solidFill>
                <a:latin typeface="Calibri"/>
              </a:defRPr>
            </a:pPr>
            <a:r>
              <a:t>Cost Overruns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661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Large construction projects frequently exceed budget (McKinsey, 2017). Manual estimates are slow and inconsistent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709160"/>
            <a:ext cx="274320" cy="27432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817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634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212529"/>
                </a:solidFill>
                <a:latin typeface="Calibri"/>
              </a:defRPr>
            </a:pPr>
            <a:r>
              <a:t>Data Underutilization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0292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Project data sits in spreadsheets. Teams lack tools to extract insights without data science skills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737360"/>
            <a:ext cx="4846320" cy="43891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9202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600"/>
              </a:spcAft>
              <a:defRPr sz="2000" b="1">
                <a:solidFill>
                  <a:srgbClr val="006DC6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0" y="2468880"/>
            <a:ext cx="228600" cy="2286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44144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42316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AI can instantly search and cite relevant safety codes from a vectorized document library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0" y="3383280"/>
            <a:ext cx="228600" cy="2286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335584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33756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ML models can predict cost overruns early, before they become project failures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0" y="4297680"/>
            <a:ext cx="228600" cy="2286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427024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25196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Automated code generation lets non-technical users analyze datasets with natural language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0" y="5212080"/>
            <a:ext cx="228600" cy="2286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18464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516636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One unified platform replaces fragmented tools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6400800"/>
            <a:ext cx="1645920" cy="320040"/>
          </a:xfrm>
          <a:prstGeom prst="roundRect">
            <a:avLst/>
          </a:prstGeom>
          <a:solidFill>
            <a:srgbClr val="E9ECEF"/>
          </a:solidFill>
          <a:ln w="190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6419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6C757D"/>
                </a:solidFill>
                <a:latin typeface="Calibri"/>
              </a:defRPr>
            </a:pPr>
            <a:r>
              <a:t>Speaker: Jack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212529"/>
                </a:solidFill>
                <a:latin typeface="Calibri"/>
              </a:defRPr>
            </a:pPr>
            <a:r>
              <a:t>Construction Domain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828800" cy="36576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303520" cy="2286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303520" cy="54864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006DC6"/>
                </a:solidFill>
                <a:latin typeface="Calibri"/>
              </a:defRPr>
            </a:pPr>
            <a:r>
              <a:t>RAG Knowledge Base  (12+ Indexed Documents)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Ontario Building Code Act 1992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OSHA 29 CFR 1926 Construction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Ontario Reg 213/91 Construction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BuildingSmart IFC 4.3 Schema Specs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Industry safety guides, procedures, manuals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5303520" cy="201168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297680"/>
            <a:ext cx="530352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434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009688"/>
                </a:solidFill>
                <a:latin typeface="Calibri"/>
              </a:defRPr>
            </a:pPr>
            <a:r>
              <a:t>Cost Estimation Dataset  (10,000 Records)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46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15 numeric + 2 categorical features (42 after encoding)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20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Features: project_type, sqft, floors, location, risk_score...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94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Curated by Jack (construction domain expert)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69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Covers 12 project types, 15 Canadian locations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37360"/>
            <a:ext cx="530352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8745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006DC6"/>
                </a:solidFill>
                <a:latin typeface="Calibri"/>
              </a:defRPr>
            </a:pPr>
            <a:r>
              <a:t>ETL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2423160"/>
            <a:ext cx="1371600" cy="32004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4414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423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t>Upload PDF/images/CSV via web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697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t>PaddleOCR for scanned documents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474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6C757D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3703320"/>
            <a:ext cx="1371600" cy="320040"/>
          </a:xfrm>
          <a:prstGeom prst="round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7216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TRANSFORM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703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t>Text -&gt; 512-char chunks (128 overlap)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t>Embed with nomic-embed-text-v1.5 (768-dim)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t>BM25 keyword index built in-memory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6C757D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4983480"/>
            <a:ext cx="137160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50017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983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t>Chunks + vectors -&gt; PostgreSQL + pgvector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t>IVFFlat index for fast similarity 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5532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t>Cost model -&gt; JSON artifact on filesystem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6400800"/>
            <a:ext cx="1645920" cy="320040"/>
          </a:xfrm>
          <a:prstGeom prst="roundRect">
            <a:avLst/>
          </a:prstGeom>
          <a:solidFill>
            <a:srgbClr val="E9ECEF"/>
          </a:solidFill>
          <a:ln w="190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6419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6C757D"/>
                </a:solidFill>
                <a:latin typeface="Calibri"/>
              </a:defRPr>
            </a:pPr>
            <a:r>
              <a:t>Speaker: Jack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212529"/>
                </a:solidFill>
                <a:latin typeface="Calibri"/>
              </a:defRPr>
            </a:pPr>
            <a:r>
              <a:t>Our Solution: Three AI-Powered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828800" cy="36576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474720" cy="45720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006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476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6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006DC6"/>
                </a:solidFill>
                <a:latin typeface="Calibri"/>
              </a:defRPr>
            </a:pPr>
            <a:r>
              <a:t>RAG Knowledge 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Ask questions about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791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documents, get cited answers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063240"/>
            <a:ext cx="2926080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337560"/>
            <a:ext cx="109728" cy="109728"/>
          </a:xfrm>
          <a:prstGeom prst="ellipse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644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Hybrid search: BM25 + Vector + RRF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931920"/>
            <a:ext cx="109728" cy="109728"/>
          </a:xfrm>
          <a:prstGeom prst="ellipse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8587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BGE cross-encoder reranking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26280"/>
            <a:ext cx="109728" cy="109728"/>
          </a:xfrm>
          <a:prstGeom prst="ellipse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5312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Source citations on every answer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5120640"/>
            <a:ext cx="109728" cy="109728"/>
          </a:xfrm>
          <a:prstGeom prst="ellipse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474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Suggested follow-up questions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1737360"/>
            <a:ext cx="3474720" cy="45720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72000" y="192024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9476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6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009688"/>
                </a:solidFill>
                <a:latin typeface="Calibri"/>
              </a:defRPr>
            </a:pPr>
            <a:r>
              <a:t>Cost Estimation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423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Predict construction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6791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cost overruns with ML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3063240"/>
            <a:ext cx="2926080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09160" y="3337560"/>
            <a:ext cx="109728" cy="10972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32644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Ridge regression (R² = 0.989)</a:t>
            </a:r>
          </a:p>
        </p:txBody>
      </p:sp>
      <p:sp>
        <p:nvSpPr>
          <p:cNvPr id="28" name="Oval 27"/>
          <p:cNvSpPr/>
          <p:nvPr/>
        </p:nvSpPr>
        <p:spPr>
          <a:xfrm>
            <a:off x="4709160" y="3931920"/>
            <a:ext cx="109728" cy="10972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38587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10,000-record training dataset</a:t>
            </a:r>
          </a:p>
        </p:txBody>
      </p:sp>
      <p:sp>
        <p:nvSpPr>
          <p:cNvPr id="30" name="Oval 29"/>
          <p:cNvSpPr/>
          <p:nvPr/>
        </p:nvSpPr>
        <p:spPr>
          <a:xfrm>
            <a:off x="4709160" y="4526280"/>
            <a:ext cx="109728" cy="10972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45312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12 project types, 15 locations</a:t>
            </a:r>
          </a:p>
        </p:txBody>
      </p:sp>
      <p:sp>
        <p:nvSpPr>
          <p:cNvPr id="32" name="Oval 31"/>
          <p:cNvSpPr/>
          <p:nvPr/>
        </p:nvSpPr>
        <p:spPr>
          <a:xfrm>
            <a:off x="4709160" y="5120640"/>
            <a:ext cx="109728" cy="10972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50474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Reasonableness validation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1737360"/>
            <a:ext cx="3474720" cy="45720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1920240"/>
            <a:ext cx="457200" cy="45720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19476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6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7B1FA2"/>
                </a:solidFill>
                <a:latin typeface="Calibri"/>
              </a:defRPr>
            </a:pPr>
            <a:r>
              <a:t>Dynamic Data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2423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Upload datasets, ask questions,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26791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get charts &amp; insights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03920" y="3063240"/>
            <a:ext cx="2926080" cy="18288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49640" y="3337560"/>
            <a:ext cx="109728" cy="109728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32644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Cloud LLM code generation</a:t>
            </a:r>
          </a:p>
        </p:txBody>
      </p:sp>
      <p:sp>
        <p:nvSpPr>
          <p:cNvPr id="43" name="Oval 42"/>
          <p:cNvSpPr/>
          <p:nvPr/>
        </p:nvSpPr>
        <p:spPr>
          <a:xfrm>
            <a:off x="8549640" y="3931920"/>
            <a:ext cx="109728" cy="109728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0" y="38587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Docker sandbox execution</a:t>
            </a:r>
          </a:p>
        </p:txBody>
      </p:sp>
      <p:sp>
        <p:nvSpPr>
          <p:cNvPr id="45" name="Oval 44"/>
          <p:cNvSpPr/>
          <p:nvPr/>
        </p:nvSpPr>
        <p:spPr>
          <a:xfrm>
            <a:off x="8549640" y="4526280"/>
            <a:ext cx="109728" cy="109728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0" y="445312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Dual fallback: Zhipu -&gt; Groq</a:t>
            </a:r>
          </a:p>
        </p:txBody>
      </p:sp>
      <p:sp>
        <p:nvSpPr>
          <p:cNvPr id="47" name="Oval 46"/>
          <p:cNvSpPr/>
          <p:nvPr/>
        </p:nvSpPr>
        <p:spPr>
          <a:xfrm>
            <a:off x="8549640" y="5120640"/>
            <a:ext cx="109728" cy="109728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78240" y="504748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Security-hardened (36 rounds)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6400800"/>
            <a:ext cx="1645920" cy="320040"/>
          </a:xfrm>
          <a:prstGeom prst="roundRect">
            <a:avLst/>
          </a:prstGeom>
          <a:solidFill>
            <a:srgbClr val="E9ECEF"/>
          </a:solidFill>
          <a:ln w="190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6419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6C757D"/>
                </a:solidFill>
                <a:latin typeface="Calibri"/>
              </a:defRPr>
            </a:pPr>
            <a:r>
              <a:t>Speaker: Jason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212529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828800" cy="36576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583680" cy="6858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006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50"/>
              </a:spcAft>
              <a:defRPr sz="1500" b="1">
                <a:solidFill>
                  <a:srgbClr val="006DC6"/>
                </a:solidFill>
                <a:latin typeface="Calibri"/>
              </a:defRPr>
            </a:pPr>
            <a:r>
              <a:t>UI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6916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Next.js +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3042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50592"/>
            <a:ext cx="6583680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963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50"/>
              </a:spcAft>
              <a:defRPr sz="1500" b="1">
                <a:solidFill>
                  <a:srgbClr val="009688"/>
                </a:solidFill>
                <a:latin typeface="Calibri"/>
              </a:defRPr>
            </a:pPr>
            <a:r>
              <a:t>API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49631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FastAPI + Auth + Rate Limiting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1089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55264"/>
            <a:ext cx="6583680" cy="6858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009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50"/>
              </a:spcAft>
              <a:defRPr sz="1500" b="1">
                <a:solidFill>
                  <a:srgbClr val="F57C00"/>
                </a:solidFill>
                <a:latin typeface="Calibri"/>
              </a:defRPr>
            </a:pPr>
            <a:r>
              <a:t>Business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300984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Intent Classifier + Workflow Orchestrator + Router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9136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59936"/>
            <a:ext cx="6583680" cy="68580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056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50"/>
              </a:spcAft>
              <a:defRPr sz="1500" b="1">
                <a:solidFill>
                  <a:srgbClr val="7B1FA2"/>
                </a:solidFill>
                <a:latin typeface="Calibri"/>
              </a:defRPr>
            </a:pPr>
            <a:r>
              <a:t>AI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105656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RAG Engine  |  Cost Estimator  |  Code Sandbox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7183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64608"/>
            <a:ext cx="6583680" cy="6858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10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50"/>
              </a:spcAft>
              <a:defRPr sz="1500" b="1">
                <a:solidFill>
                  <a:srgbClr val="2E7D32"/>
                </a:solidFill>
                <a:latin typeface="Calibri"/>
              </a:defRPr>
            </a:pPr>
            <a:r>
              <a:t>Data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91032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PostgreSQL + pgvector  |  BM25 Index  |  Model Artifacts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52297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669280"/>
            <a:ext cx="6583680" cy="6858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715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50"/>
              </a:spcAft>
              <a:defRPr sz="1500" b="1">
                <a:solidFill>
                  <a:srgbClr val="6C757D"/>
                </a:solidFill>
                <a:latin typeface="Calibri"/>
              </a:defRPr>
            </a:pPr>
            <a:r>
              <a:t>Security &amp; Observability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7150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Prometheus  |  Audit Logging  |  Tenant Isolation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1645920"/>
            <a:ext cx="3931920" cy="48463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1783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006DC6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2331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006DC6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t>Qwen 3.5:4b via Ollama (Metal GPU)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2770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006DC6"/>
                </a:solidFill>
                <a:latin typeface="Calibri"/>
              </a:defRPr>
            </a:pPr>
            <a:r>
              <a:t>Embeddings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7706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t>nomic-embed-text-v1.5 (768-dim)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32095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006DC6"/>
                </a:solidFill>
                <a:latin typeface="Calibri"/>
              </a:defRPr>
            </a:pPr>
            <a:r>
              <a:t>Vector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2095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t>PostgreSQL 16 + pgvector (IVFFlat)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36484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006DC6"/>
                </a:solidFill>
                <a:latin typeface="Calibri"/>
              </a:defRPr>
            </a:pPr>
            <a:r>
              <a:t>Reranker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6484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t>BGE-reranker-base cross-encoder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40873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006DC6"/>
                </a:solidFill>
                <a:latin typeface="Calibri"/>
              </a:defRPr>
            </a:pPr>
            <a:r>
              <a:t>OCR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0873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t>PaddleOCR (Python 3.13)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4526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006DC6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4526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t>FastAPI + LangChain 1.0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49651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006DC6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49651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t>Next.js + TypeScript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5404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006DC6"/>
                </a:solidFill>
                <a:latin typeface="Calibri"/>
              </a:defRPr>
            </a:pPr>
            <a:r>
              <a:t>Sandbox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54041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t>Docker / E2B (security-hardened)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58430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006DC6"/>
                </a:solidFill>
                <a:latin typeface="Calibri"/>
              </a:defRPr>
            </a:pPr>
            <a:r>
              <a:t>Cloud LLM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58430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t>Zhipu GLM-4 / Groq / Google Gemini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6400800"/>
            <a:ext cx="1645920" cy="320040"/>
          </a:xfrm>
          <a:prstGeom prst="roundRect">
            <a:avLst/>
          </a:prstGeom>
          <a:solidFill>
            <a:srgbClr val="E9ECEF"/>
          </a:solidFill>
          <a:ln w="190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6419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6C757D"/>
                </a:solidFill>
                <a:latin typeface="Calibri"/>
              </a:defRPr>
            </a:pPr>
            <a:r>
              <a:t>Speaker: Jason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212529"/>
                </a:solidFill>
                <a:latin typeface="Calibri"/>
              </a:defRPr>
            </a:pPr>
            <a:r>
              <a:t>AI Innovation: Intent Classification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828800" cy="36576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006DC6"/>
                </a:solidFill>
                <a:latin typeface="Calibri"/>
              </a:defRPr>
            </a:pPr>
            <a:r>
              <a:t>11-Node LangGraph StateGraph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A multi-step graph that classifies user intent, handles ambiguous queries</a:t>
            </a:r>
            <a:br/>
            <a:r>
              <a:t>with clarification loops, and routes to the correct AI capability.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645920" cy="548640"/>
          </a:xfrm>
          <a:prstGeom prst="round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163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8163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6C757D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743200"/>
            <a:ext cx="1645920" cy="54864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8163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Intent Classify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163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6C757D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743200"/>
            <a:ext cx="1645920" cy="54864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8163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Confidence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383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E7D32"/>
                </a:solidFill>
                <a:latin typeface="Calibri"/>
              </a:defRPr>
            </a:pPr>
            <a:r>
              <a:t>&gt;= 0.8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F57C00"/>
                </a:solidFill>
                <a:latin typeface="Calibri"/>
              </a:defRPr>
            </a:pPr>
            <a:r>
              <a:t>&lt; 0.8 -&gt; Clarify (max 2 rounds)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1645920" cy="457200"/>
          </a:xfrm>
          <a:prstGeom prst="round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RAG QA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4389120"/>
            <a:ext cx="164592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Cost Estimation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4389120"/>
            <a:ext cx="1645920" cy="45720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Routes to correct capability with reformulated query + extracted keywords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554480"/>
            <a:ext cx="4846320" cy="47548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16916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009688"/>
                </a:solidFill>
                <a:latin typeface="Calibri"/>
              </a:defRPr>
            </a:pPr>
            <a:r>
              <a:t>10-Node Execution Pipeline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2194560"/>
            <a:ext cx="201168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22677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 Intent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2194560"/>
            <a:ext cx="2011680" cy="502920"/>
          </a:xfrm>
          <a:prstGeom prst="round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22677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 Safety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0" y="2971800"/>
            <a:ext cx="201168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3044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3. Cost Est.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20" y="2971800"/>
            <a:ext cx="2011680" cy="502920"/>
          </a:xfrm>
          <a:prstGeom prst="round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3044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4. Retrieval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0" y="3749040"/>
            <a:ext cx="201168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38221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5. Rerank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20" y="3749040"/>
            <a:ext cx="2011680" cy="502920"/>
          </a:xfrm>
          <a:prstGeom prst="round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38221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6. Prompt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0" y="4526280"/>
            <a:ext cx="201168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45994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7. Route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18320" y="4526280"/>
            <a:ext cx="2011680" cy="502920"/>
          </a:xfrm>
          <a:prstGeom prst="round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0" y="45994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8. Code Exec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0" y="5303520"/>
            <a:ext cx="201168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0" y="53766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9. Response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18320" y="5303520"/>
            <a:ext cx="2011680" cy="502920"/>
          </a:xfrm>
          <a:prstGeom prst="round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53766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10. Groundedness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989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t>Fixed-order pipeline ensures consistent, auditable processing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6400800"/>
            <a:ext cx="1645920" cy="320040"/>
          </a:xfrm>
          <a:prstGeom prst="roundRect">
            <a:avLst/>
          </a:prstGeom>
          <a:solidFill>
            <a:srgbClr val="E9ECEF"/>
          </a:solidFill>
          <a:ln w="190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6419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6C757D"/>
                </a:solidFill>
                <a:latin typeface="Calibri"/>
              </a:defRPr>
            </a:pPr>
            <a:r>
              <a:t>Speaker: Jason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212529"/>
                </a:solidFill>
                <a:latin typeface="Calibri"/>
              </a:defRPr>
            </a:pPr>
            <a:r>
              <a:t>RAG Pipeline: Hybrid Retrieval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828800" cy="36576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828800"/>
            <a:ext cx="1371600" cy="1371600"/>
          </a:xfrm>
          <a:prstGeom prst="round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User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+ keywords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40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6C757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38528" y="1828800"/>
            <a:ext cx="1371600" cy="13716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38528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BM25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Keyword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8528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240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6C757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2736" y="1828800"/>
            <a:ext cx="1371600" cy="137160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Semantic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similarity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4336" y="2240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6C757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66944" y="1828800"/>
            <a:ext cx="1371600" cy="13716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6944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Reciprocal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Rank 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2240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6C757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31152" y="1828800"/>
            <a:ext cx="1371600" cy="13716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Rerank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BGE cross-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encoder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2240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6C757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1828800"/>
            <a:ext cx="1371600" cy="1371600"/>
          </a:xfrm>
          <a:prstGeom prst="round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Qwen 3.5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generate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2240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6C757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59568" y="1828800"/>
            <a:ext cx="1371600" cy="137160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59568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Answer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59568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Cited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9568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response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006DC6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1">
                <a:solidFill>
                  <a:srgbClr val="212529"/>
                </a:solidFill>
                <a:latin typeface="Calibri"/>
              </a:defRPr>
            </a:pPr>
            <a:r>
              <a:t>Hybrid Search (BM25 + Vector)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40233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Exact keyword matches + semantic understanding = better recall than either alone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6817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1">
                <a:solidFill>
                  <a:srgbClr val="212529"/>
                </a:solidFill>
                <a:latin typeface="Calibri"/>
              </a:defRPr>
            </a:pPr>
            <a:r>
              <a:t>Cross-Encoder Reranking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468172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BGE-reranker-base re-scores top candidates for precision (not just cosine similarity)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3400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1">
                <a:solidFill>
                  <a:srgbClr val="212529"/>
                </a:solidFill>
                <a:latin typeface="Calibri"/>
              </a:defRPr>
            </a:pPr>
            <a:r>
              <a:t>512-char Chunks, 128 Overlap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5340096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Balances context completeness vs. embedding quality; overlap prevents boundary information loss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998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1">
                <a:solidFill>
                  <a:srgbClr val="212529"/>
                </a:solidFill>
                <a:latin typeface="Calibri"/>
              </a:defRPr>
            </a:pPr>
            <a:r>
              <a:t>Source Citations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5998464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Every answer includes document name + chunk reference for traceability and trust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6400800"/>
            <a:ext cx="1645920" cy="320040"/>
          </a:xfrm>
          <a:prstGeom prst="roundRect">
            <a:avLst/>
          </a:prstGeom>
          <a:solidFill>
            <a:srgbClr val="E9ECEF"/>
          </a:solidFill>
          <a:ln w="190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6419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6C757D"/>
                </a:solidFill>
                <a:latin typeface="Calibri"/>
              </a:defRPr>
            </a:pPr>
            <a:r>
              <a:t>Speaker: Jason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212529"/>
                </a:solidFill>
                <a:latin typeface="Calibri"/>
              </a:defRPr>
            </a:pPr>
            <a:r>
              <a:t>Cost Estimation: Ridge Regression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828800" cy="36576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029200" cy="228600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02920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009688"/>
                </a:solidFill>
                <a:latin typeface="Calibri"/>
              </a:defRPr>
            </a:pPr>
            <a:r>
              <a:t>Model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Algorithm: Ridge Regression (L2 regularization)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Training: 5-fold cross-validation on 10,000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Features: 15 numeric + 2 categorical (42 after one-hot)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Normalization: Z-score standardization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Output: Predicted actual cost + overrun percentage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5029200" cy="20116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297680"/>
            <a:ext cx="5029200" cy="54864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434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F57C00"/>
                </a:solidFill>
                <a:latin typeface="Calibri"/>
              </a:defRPr>
            </a:pPr>
            <a:r>
              <a:t>Key Cost Features (Model Inputs)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46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Change Orders — strong cost overrun indicator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Risk Score — project complexity measure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94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Subcontractor Count — coordination factor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69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Contractor Rating — quality/reliability signal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737360"/>
            <a:ext cx="566928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8745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006DC6"/>
                </a:solidFill>
                <a:latin typeface="Calibri"/>
              </a:defRPr>
            </a:pPr>
            <a:r>
              <a:t>Model vs. Baseline Performance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377440"/>
            <a:ext cx="1234440" cy="365760"/>
          </a:xfrm>
          <a:prstGeom prst="round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40487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2377440"/>
            <a:ext cx="1234440" cy="365760"/>
          </a:xfrm>
          <a:prstGeom prst="round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240487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2377440"/>
            <a:ext cx="1234440" cy="365760"/>
          </a:xfrm>
          <a:prstGeom prst="round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240487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Our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95560" y="2377440"/>
            <a:ext cx="1234440" cy="365760"/>
          </a:xfrm>
          <a:prstGeom prst="round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95560" y="240487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33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Improvement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788920"/>
            <a:ext cx="12344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83464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1">
                <a:solidFill>
                  <a:srgbClr val="212529"/>
                </a:solidFill>
                <a:latin typeface="Calibri"/>
              </a:defRPr>
            </a:pPr>
            <a:r>
              <a:t>MAE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800" y="2788920"/>
            <a:ext cx="12344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0" y="283464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$4.06M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69680" y="2788920"/>
            <a:ext cx="12344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283464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$2.58M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95560" y="2788920"/>
            <a:ext cx="12344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95560" y="283464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E7D32"/>
                </a:solidFill>
                <a:latin typeface="Calibri"/>
              </a:defRPr>
            </a:pPr>
            <a:r>
              <a:t>36% better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291840"/>
            <a:ext cx="1234440" cy="457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333756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1">
                <a:solidFill>
                  <a:srgbClr val="212529"/>
                </a:solidFill>
                <a:latin typeface="Calibri"/>
              </a:defRPr>
            </a:pPr>
            <a:r>
              <a:t>MAPE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43800" y="3291840"/>
            <a:ext cx="1234440" cy="457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3800" y="333756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8.59%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69680" y="3291840"/>
            <a:ext cx="1234440" cy="457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69680" y="333756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6.18%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95560" y="3291840"/>
            <a:ext cx="1234440" cy="457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95560" y="333756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E7D32"/>
                </a:solidFill>
                <a:latin typeface="Calibri"/>
              </a:defRPr>
            </a:pPr>
            <a:r>
              <a:t>28% better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3794760"/>
            <a:ext cx="12344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84048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1">
                <a:solidFill>
                  <a:srgbClr val="212529"/>
                </a:solidFill>
                <a:latin typeface="Calibri"/>
              </a:defRPr>
            </a:pPr>
            <a:r>
              <a:t>R²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43800" y="3794760"/>
            <a:ext cx="12344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800" y="384048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0.975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69680" y="3794760"/>
            <a:ext cx="12344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69680" y="384048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0.989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95560" y="3794760"/>
            <a:ext cx="12344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95560" y="384048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+1.4%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4297680"/>
            <a:ext cx="1234440" cy="457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434340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1">
                <a:solidFill>
                  <a:srgbClr val="212529"/>
                </a:solidFill>
                <a:latin typeface="Calibri"/>
              </a:defRPr>
            </a:pPr>
            <a:r>
              <a:t>RMSE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43800" y="4297680"/>
            <a:ext cx="1234440" cy="457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43800" y="434340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869680" y="4297680"/>
            <a:ext cx="1234440" cy="457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69680" y="434340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$9.83M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195560" y="4297680"/>
            <a:ext cx="1234440" cy="457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95560" y="434340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--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26480" y="4937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50"/>
              </a:spcAft>
              <a:defRPr sz="1500" b="1">
                <a:solidFill>
                  <a:srgbClr val="009688"/>
                </a:solidFill>
                <a:latin typeface="Calibri"/>
              </a:defRPr>
            </a:pPr>
            <a:r>
              <a:t>Why Ridge Regression?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60" y="5349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t>- Interpretable: stakeholders can see which features drive cost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0" y="5623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t>- Fast inference: &lt;1ms prediction (critical for real-time demo)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5897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t>- Robust: L2 regularization prevents overfitting on 42 features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0" y="6172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212529"/>
                </a:solidFill>
                <a:latin typeface="Calibri"/>
              </a:defRPr>
            </a:pPr>
            <a:r>
              <a:t>- Validated: predictions checked against dataset range bounds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4320" y="6400800"/>
            <a:ext cx="1645920" cy="320040"/>
          </a:xfrm>
          <a:prstGeom prst="roundRect">
            <a:avLst/>
          </a:prstGeom>
          <a:solidFill>
            <a:srgbClr val="E9ECEF"/>
          </a:solidFill>
          <a:ln w="190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" y="6419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6C757D"/>
                </a:solidFill>
                <a:latin typeface="Calibri"/>
              </a:defRPr>
            </a:pPr>
            <a:r>
              <a:t>Speaker: Jason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212529"/>
                </a:solidFill>
                <a:latin typeface="Calibri"/>
              </a:defRPr>
            </a:pPr>
            <a:r>
              <a:t>Dynamic Data Analysis: Code Generation + Sandbox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828800" cy="36576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2011680" cy="2560320"/>
          </a:xfrm>
          <a:prstGeom prst="round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103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Upload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834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User uploads CSV/Excel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0906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via web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600"/>
              </a:spcAft>
              <a:defRPr sz="2000" b="1">
                <a:solidFill>
                  <a:srgbClr val="6C757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1645920"/>
            <a:ext cx="2011680" cy="25603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737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103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Metadata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834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Extract column names,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0906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types, stats (NOT raw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3467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= privacy by design)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600"/>
              </a:spcAft>
              <a:defRPr sz="2000" b="1">
                <a:solidFill>
                  <a:srgbClr val="6C757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1645920"/>
            <a:ext cx="2011680" cy="256032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737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103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Cloud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Code 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834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Send metadata 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0906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Zhipu GLM-4 or Groq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3467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600"/>
              </a:spcAft>
              <a:defRPr sz="2000" b="1">
                <a:solidFill>
                  <a:srgbClr val="6C757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1645920"/>
            <a:ext cx="2011680" cy="256032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20" y="1737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2103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Sandbox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834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Execute generated Python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0906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in security-hardened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3467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container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600"/>
              </a:spcAft>
              <a:defRPr sz="2000" b="1">
                <a:solidFill>
                  <a:srgbClr val="6C757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1645920"/>
            <a:ext cx="2011680" cy="2560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1737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2103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Results 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Visualization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2834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Return analysis output,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30906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charts, and insights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33467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to 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540"/>
              </a:spcAft>
              <a:defRPr sz="1800" b="1">
                <a:solidFill>
                  <a:srgbClr val="F57C00"/>
                </a:solidFill>
                <a:latin typeface="Calibri"/>
              </a:defRPr>
            </a:pPr>
            <a:r>
              <a:t>Security Hardening (36 TDI Rounds)</a:t>
            </a:r>
          </a:p>
        </p:txBody>
      </p:sp>
      <p:sp>
        <p:nvSpPr>
          <p:cNvPr id="42" name="Oval 41"/>
          <p:cNvSpPr/>
          <p:nvPr/>
        </p:nvSpPr>
        <p:spPr>
          <a:xfrm>
            <a:off x="731520" y="5056632"/>
            <a:ext cx="182880" cy="18288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Code validator blocks dangerous imports (os, subprocess, shutil, etc.)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5422392"/>
            <a:ext cx="182880" cy="18288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394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Docker container: no network access, resource limits, read-only filesystem</a:t>
            </a:r>
          </a:p>
        </p:txBody>
      </p:sp>
      <p:sp>
        <p:nvSpPr>
          <p:cNvPr id="46" name="Oval 45"/>
          <p:cNvSpPr/>
          <p:nvPr/>
        </p:nvSpPr>
        <p:spPr>
          <a:xfrm>
            <a:off x="731520" y="5788152"/>
            <a:ext cx="182880" cy="18288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560" y="5760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AST-based static analysis before execution — not just regex pattern matching</a:t>
            </a:r>
          </a:p>
        </p:txBody>
      </p:sp>
      <p:sp>
        <p:nvSpPr>
          <p:cNvPr id="48" name="Oval 47"/>
          <p:cNvSpPr/>
          <p:nvPr/>
        </p:nvSpPr>
        <p:spPr>
          <a:xfrm>
            <a:off x="731520" y="6153912"/>
            <a:ext cx="182880" cy="18288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6126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Dual cloud LLM fallback: Zhipu -&gt; Groq -&gt; template-based safe response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" y="6400800"/>
            <a:ext cx="1645920" cy="320040"/>
          </a:xfrm>
          <a:prstGeom prst="roundRect">
            <a:avLst/>
          </a:prstGeom>
          <a:solidFill>
            <a:srgbClr val="E9ECEF"/>
          </a:solidFill>
          <a:ln w="190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6419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6C757D"/>
                </a:solidFill>
                <a:latin typeface="Calibri"/>
              </a:defRPr>
            </a:pPr>
            <a:r>
              <a:t>Speaker: Jason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212529"/>
                </a:solidFill>
                <a:latin typeface="Calibri"/>
              </a:defRPr>
            </a:pPr>
            <a:r>
              <a:t>Results &amp;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828800" cy="36576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32004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006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006DC6"/>
                </a:solidFill>
                <a:latin typeface="Calibri"/>
              </a:defRPr>
            </a:pPr>
            <a:r>
              <a:t>RAG Knowledge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- Source citations with document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1576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- Suggested follow-up questions enabled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9125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- Hybrid retrieval: BM25 + vector + RRF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6674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- Groundedness check on every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422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- 12+ construction documents indexed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474720" cy="32004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009688"/>
                </a:solidFill>
                <a:latin typeface="Calibri"/>
              </a:defRPr>
            </a:pPr>
            <a:r>
              <a:t>Cost Estimation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40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- R² = 0.989 (vs 0.975 baseline)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71576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- MAE: $2.58M (36% improvement)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19125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- MAPE: 6.18% (28% improvement)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66674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- Reasonableness validation: active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1422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- Sub-millisecond inference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645920"/>
            <a:ext cx="3474720" cy="32004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7B1FA2"/>
                </a:solidFill>
                <a:latin typeface="Calibri"/>
              </a:defRPr>
            </a:pPr>
            <a:r>
              <a:t>Data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240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- Cloud LLM dual fallback: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71576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- Docker sandbox: hardened (36 rounds)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19125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- Privacy-by-design: metadata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66674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- Code validator: AST-based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1422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- Supports CSV and Excel uploads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20640"/>
            <a:ext cx="11064240" cy="11887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212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2E7D32"/>
                </a:solidFill>
                <a:latin typeface="Calibri"/>
              </a:defRPr>
            </a:pPr>
            <a:r>
              <a:t>Testing 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532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840"/>
              </a:spcAft>
              <a:defRPr sz="2800" b="1">
                <a:solidFill>
                  <a:srgbClr val="2E7D32"/>
                </a:solidFill>
                <a:latin typeface="Calibri"/>
              </a:defRPr>
            </a:pPr>
            <a:r>
              <a:t>539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43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Unit Tests Passed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532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840"/>
              </a:spcAft>
              <a:defRPr sz="2800" b="1">
                <a:solidFill>
                  <a:srgbClr val="2E7D32"/>
                </a:solidFill>
                <a:latin typeface="Calibri"/>
              </a:defRPr>
            </a:pPr>
            <a:r>
              <a:t>70%+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943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Code Coverage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532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840"/>
              </a:spcAft>
              <a:defRPr sz="2800" b="1">
                <a:solidFill>
                  <a:srgbClr val="2E7D32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943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TDI Security Rounds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532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840"/>
              </a:spcAft>
              <a:defRPr sz="2800" b="1">
                <a:solidFill>
                  <a:srgbClr val="2E7D32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943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6C757D"/>
                </a:solidFill>
                <a:latin typeface="Calibri"/>
              </a:defRPr>
            </a:pPr>
            <a:r>
              <a:t>CI Gate Checks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6400800"/>
            <a:ext cx="1645920" cy="320040"/>
          </a:xfrm>
          <a:prstGeom prst="roundRect">
            <a:avLst/>
          </a:prstGeom>
          <a:solidFill>
            <a:srgbClr val="E9ECEF"/>
          </a:solidFill>
          <a:ln w="190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419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6C757D"/>
                </a:solidFill>
                <a:latin typeface="Calibri"/>
              </a:defRPr>
            </a:pPr>
            <a:r>
              <a:t>Speaker: Jason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212529"/>
                </a:solidFill>
                <a:latin typeface="Calibri"/>
              </a:defRPr>
            </a:pPr>
            <a:r>
              <a:t>Challenges &amp; How We Solved Them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828800" cy="36576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73152" cy="777240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006DC6"/>
                </a:solidFill>
                <a:latin typeface="Calibri"/>
              </a:defRPr>
            </a:pPr>
            <a:r>
              <a:t>LLM Performance on Local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t>Problem: Ollama latency too high for real-time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69164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Solution: Chose Qwen3.5:4b (28 TPS on M1 Max), disabled thinking mode, added query caching (TTL=120s)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73152" cy="7772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F57C00"/>
                </a:solidFill>
                <a:latin typeface="Calibri"/>
              </a:defRPr>
            </a:pPr>
            <a:r>
              <a:t>Intent Classification Loops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t>Problem: Ambiguous queries caused infinite clarification cycles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Solution: Set MAX_CLARIFICATION_ROUNDS=2, confidence threshold=0.8 for direct routing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66160"/>
            <a:ext cx="73152" cy="7772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7B1FA2"/>
                </a:solidFill>
                <a:latin typeface="Calibri"/>
              </a:defRPr>
            </a:pPr>
            <a:r>
              <a:t>Code Sandbox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t>Problem: User-submitted code could escape sandbox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61188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Solution: 36 rounds of test-driven security hardening: AST validator + Docker isolation + import blocking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26280"/>
            <a:ext cx="73152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26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009688"/>
                </a:solidFill>
                <a:latin typeface="Calibri"/>
              </a:defRPr>
            </a:pPr>
            <a:r>
              <a:t>PaddleOCR Compatibility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463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t>Problem: PaddleOCR requires specific Python version on Apple Silicon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57200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Solution: Locked to Python 3.13 + Developer Nightly Build; documented arm64 requirement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73152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2E7D32"/>
                </a:solidFill>
                <a:latin typeface="Calibri"/>
              </a:defRPr>
            </a:pPr>
            <a:r>
              <a:t>RAG Answer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06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33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t>Problem: Source citations not reliably appearing in early versions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53212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359"/>
              </a:spcAft>
              <a:defRPr sz="1200" b="0">
                <a:solidFill>
                  <a:srgbClr val="212529"/>
                </a:solidFill>
                <a:latin typeface="Calibri"/>
              </a:defRPr>
            </a:pPr>
            <a:r>
              <a:t>Solution: Backend now enforces source fields; frontend rendering improved significantly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6400800"/>
            <a:ext cx="1645920" cy="320040"/>
          </a:xfrm>
          <a:prstGeom prst="roundRect">
            <a:avLst/>
          </a:prstGeom>
          <a:solidFill>
            <a:srgbClr val="E9ECEF"/>
          </a:solidFill>
          <a:ln w="190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419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6C757D"/>
                </a:solidFill>
                <a:latin typeface="Calibri"/>
              </a:defRPr>
            </a:pPr>
            <a:r>
              <a:t>Speaker: Angel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1080"/>
              </a:spcAft>
              <a:defRPr sz="3600" b="1">
                <a:solidFill>
                  <a:srgbClr val="212529"/>
                </a:solidFill>
                <a:latin typeface="Calibri"/>
              </a:defRPr>
            </a:pPr>
            <a:r>
              <a:t>Future Work &amp;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828800" cy="36576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691640"/>
            <a:ext cx="365760" cy="365760"/>
          </a:xfrm>
          <a:prstGeom prst="ellipse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006DC6"/>
                </a:solidFill>
                <a:latin typeface="Calibri"/>
              </a:defRPr>
            </a:pPr>
            <a:r>
              <a:t>Multi-Tenant Production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Extend X-Tenant-ID isolation to full production with auth, RBAC, and per-tenant data partitioning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51760"/>
            <a:ext cx="365760" cy="3657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700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06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009688"/>
                </a:solidFill>
                <a:latin typeface="Calibri"/>
              </a:defRPr>
            </a:pPr>
            <a:r>
              <a:t>Cloud-Native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718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Containerize all services (Kubernetes), enable horizontal scaling for concurrent users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611880"/>
            <a:ext cx="365760" cy="36576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301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7B1FA2"/>
                </a:solidFill>
                <a:latin typeface="Calibri"/>
              </a:defRPr>
            </a:pPr>
            <a:r>
              <a:t>Advanced RAG Techniques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9319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Add graph-based retrieval, multi-modal document understanding, and cross-document reasoning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572000"/>
            <a:ext cx="365760" cy="365760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902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26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F57C00"/>
                </a:solidFill>
                <a:latin typeface="Calibri"/>
              </a:defRPr>
            </a:pPr>
            <a:r>
              <a:t>Expanded ML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920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Add project timeline prediction, resource optimization, safety risk scoring beyond cost estimation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504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486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80"/>
              </a:spcAft>
              <a:defRPr sz="1600" b="1">
                <a:solidFill>
                  <a:srgbClr val="2E7D32"/>
                </a:solidFill>
                <a:latin typeface="Calibri"/>
              </a:defRPr>
            </a:pPr>
            <a:r>
              <a:t>Mobile &amp; Field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8521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Responsive UI for tablets/phones so construction teams can query documents on-site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645920"/>
            <a:ext cx="4389120" cy="32004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006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18288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600"/>
              </a:spcAft>
              <a:defRPr sz="2000" b="1">
                <a:solidFill>
                  <a:srgbClr val="006DC6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28600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390"/>
              </a:spcAft>
              <a:defRPr sz="1300" b="0">
                <a:solidFill>
                  <a:srgbClr val="212529"/>
                </a:solidFill>
                <a:latin typeface="Calibri"/>
              </a:defRPr>
            </a:pPr>
            <a:r>
              <a:t>Industry AI Flow demonstrates that AI can</a:t>
            </a:r>
            <a:br/>
            <a:r>
              <a:t>meaningfully assist the construction industry</a:t>
            </a:r>
            <a:br/>
            <a:r>
              <a:t>today — not as a futuristic concept, but as</a:t>
            </a:r>
            <a:br/>
            <a:r>
              <a:t>a working, tested prototype that retrieves</a:t>
            </a:r>
            <a:br/>
            <a:r>
              <a:t>knowledge, predicts costs, and analyzes</a:t>
            </a:r>
            <a:br/>
            <a:r>
              <a:t>data through a single unified platform.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6400800"/>
            <a:ext cx="1645920" cy="320040"/>
          </a:xfrm>
          <a:prstGeom prst="roundRect">
            <a:avLst/>
          </a:prstGeom>
          <a:solidFill>
            <a:srgbClr val="E9ECEF"/>
          </a:solidFill>
          <a:ln w="190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419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6C757D"/>
                </a:solidFill>
                <a:latin typeface="Calibri"/>
              </a:defRPr>
            </a:pPr>
            <a:r>
              <a:t>Speaker: Angel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Aft>
                <a:spcPts val="1560"/>
              </a:spcAft>
              <a:defRPr sz="5200" b="1">
                <a:solidFill>
                  <a:srgbClr val="212529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719"/>
              </a:spcAft>
              <a:defRPr sz="2400" b="0">
                <a:solidFill>
                  <a:srgbClr val="006DC6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017520" cy="27432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640"/>
              </a:spcAft>
              <a:defRPr sz="1600" b="0">
                <a:solidFill>
                  <a:srgbClr val="212529"/>
                </a:solidFill>
                <a:latin typeface="Calibri"/>
              </a:defRPr>
            </a:pPr>
            <a:r>
              <a:t>Angel Daniel Bustamante Perez  |  Jason Niu  |  Jack Si</a:t>
            </a:r>
          </a:p>
          <a:p>
            <a:pPr algn="l">
              <a:lnSpc>
                <a:spcPts val="1040"/>
              </a:lnSpc>
              <a:spcAft>
                <a:spcPts val="320"/>
              </a:spcAft>
              <a:defRPr sz="800" b="0">
                <a:solidFill>
                  <a:srgbClr val="212529"/>
                </a:solidFill>
                <a:latin typeface="Calibri"/>
              </a:defRPr>
            </a:pPr>
          </a:p>
          <a:p>
            <a:pPr algn="ctr">
              <a:lnSpc>
                <a:spcPts val="1690"/>
              </a:lnSpc>
              <a:spcAft>
                <a:spcPts val="52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SAIT  |  Integrated Artificial Intelligence  |  Capstone 2026</a:t>
            </a:r>
          </a:p>
          <a:p>
            <a:pPr algn="l">
              <a:lnSpc>
                <a:spcPts val="1040"/>
              </a:lnSpc>
              <a:spcAft>
                <a:spcPts val="320"/>
              </a:spcAft>
              <a:defRPr sz="800" b="0">
                <a:solidFill>
                  <a:srgbClr val="212529"/>
                </a:solidFill>
                <a:latin typeface="Calibri"/>
              </a:defRPr>
            </a:pPr>
          </a:p>
          <a:p>
            <a:pPr algn="ctr">
              <a:lnSpc>
                <a:spcPts val="1690"/>
              </a:lnSpc>
              <a:spcAft>
                <a:spcPts val="52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Instructor: Reeta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20"/>
              </a:spcAft>
              <a:defRPr sz="1400" b="1">
                <a:solidFill>
                  <a:srgbClr val="006DC6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235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6C757D"/>
                </a:solidFill>
                <a:latin typeface="Calibri"/>
              </a:defRPr>
            </a:pPr>
            <a:r>
              <a:t>McKinsey &amp; Company (2017). Reinventing Construction: A Route to Higher Productivity.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24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6C757D"/>
                </a:solidFill>
                <a:latin typeface="Calibri"/>
              </a:defRPr>
            </a:pPr>
            <a:r>
              <a:t>LangChain / LangGraph — https://www.langchain.com/langgraph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25896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6C757D"/>
                </a:solidFill>
                <a:latin typeface="Calibri"/>
              </a:defRPr>
            </a:pPr>
            <a:r>
              <a:t>Ollama — https://ollama.com | Qwen 3.5 — https://huggingface.co/Qwen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27064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6C757D"/>
                </a:solidFill>
                <a:latin typeface="Calibri"/>
              </a:defRPr>
            </a:pPr>
            <a:r>
              <a:t>pgvector — https://github.com/pgvector/pgvector | BGE Reranker — https://huggingface.co/BAAI/bge-reranker-base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2823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270"/>
              </a:spcAft>
              <a:defRPr sz="900" b="0">
                <a:solidFill>
                  <a:srgbClr val="6C757D"/>
                </a:solidFill>
                <a:latin typeface="Calibri"/>
              </a:defRPr>
            </a:pPr>
            <a:r>
              <a:t>PaddleOCR — https://github.com/PaddlePaddle/PaddleOCR | FastAPI — https://fastapi.tiangolo.com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300"/>
              </a:spcAft>
              <a:defRPr sz="1000" b="0">
                <a:solidFill>
                  <a:srgbClr val="6C757D"/>
                </a:solidFill>
                <a:latin typeface="Calibr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